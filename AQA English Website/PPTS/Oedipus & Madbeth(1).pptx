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1" r:id="rId6"/>
    <p:sldId id="262" r:id="rId7"/>
    <p:sldId id="263" r:id="rId8"/>
    <p:sldId id="264" r:id="rId9"/>
    <p:sldId id="265" r:id="rId10"/>
    <p:sldId id="266" r:id="rId11"/>
    <p:sldId id="267" r:id="rId12"/>
    <p:sldId id="268" r:id="rId13"/>
    <p:sldId id="269"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200" y="-82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78238E1-4433-4CBF-B028-59F1FF389C9A}" type="datetimeFigureOut">
              <a:rPr lang="en-GB" smtClean="0"/>
              <a:t>21/03/2018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2655315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78238E1-4433-4CBF-B028-59F1FF389C9A}" type="datetimeFigureOut">
              <a:rPr lang="en-GB" smtClean="0"/>
              <a:t>21/03/2018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1039360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78238E1-4433-4CBF-B028-59F1FF389C9A}" type="datetimeFigureOut">
              <a:rPr lang="en-GB" smtClean="0"/>
              <a:t>21/03/2018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2588615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78238E1-4433-4CBF-B028-59F1FF389C9A}" type="datetimeFigureOut">
              <a:rPr lang="en-GB" smtClean="0"/>
              <a:t>21/03/2018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3275458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78238E1-4433-4CBF-B028-59F1FF389C9A}" type="datetimeFigureOut">
              <a:rPr lang="en-GB" smtClean="0"/>
              <a:t>21/03/2018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1130106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78238E1-4433-4CBF-B028-59F1FF389C9A}" type="datetimeFigureOut">
              <a:rPr lang="en-GB" smtClean="0"/>
              <a:t>21/03/2018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111947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8238E1-4433-4CBF-B028-59F1FF389C9A}" type="datetimeFigureOut">
              <a:rPr lang="en-GB" smtClean="0"/>
              <a:t>21/03/2018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3743442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8238E1-4433-4CBF-B028-59F1FF389C9A}" type="datetimeFigureOut">
              <a:rPr lang="en-GB" smtClean="0"/>
              <a:t>21/03/2018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733627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8238E1-4433-4CBF-B028-59F1FF389C9A}" type="datetimeFigureOut">
              <a:rPr lang="en-GB" smtClean="0"/>
              <a:t>21/03/2018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118526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78238E1-4433-4CBF-B028-59F1FF389C9A}" type="datetimeFigureOut">
              <a:rPr lang="en-GB" smtClean="0"/>
              <a:t>21/03/2018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3245155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78238E1-4433-4CBF-B028-59F1FF389C9A}" type="datetimeFigureOut">
              <a:rPr lang="en-GB" smtClean="0"/>
              <a:t>21/03/2018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A3B860-992A-47ED-8E23-EE1AC84F3730}" type="slidenum">
              <a:rPr lang="en-GB" smtClean="0"/>
              <a:t>‹#›</a:t>
            </a:fld>
            <a:endParaRPr lang="en-GB"/>
          </a:p>
        </p:txBody>
      </p:sp>
    </p:spTree>
    <p:extLst>
      <p:ext uri="{BB962C8B-B14F-4D97-AF65-F5344CB8AC3E}">
        <p14:creationId xmlns:p14="http://schemas.microsoft.com/office/powerpoint/2010/main" val="4286076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238E1-4433-4CBF-B028-59F1FF389C9A}" type="datetimeFigureOut">
              <a:rPr lang="en-GB" smtClean="0"/>
              <a:t>21/03/2018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A3B860-992A-47ED-8E23-EE1AC84F3730}" type="slidenum">
              <a:rPr lang="en-GB" smtClean="0"/>
              <a:t>‹#›</a:t>
            </a:fld>
            <a:endParaRPr lang="en-GB"/>
          </a:p>
        </p:txBody>
      </p:sp>
    </p:spTree>
    <p:extLst>
      <p:ext uri="{BB962C8B-B14F-4D97-AF65-F5344CB8AC3E}">
        <p14:creationId xmlns:p14="http://schemas.microsoft.com/office/powerpoint/2010/main" val="2503352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Oedipus </a:t>
            </a:r>
            <a:r>
              <a:rPr lang="en-GB" smtClean="0"/>
              <a:t>&amp; Macbeth</a:t>
            </a:r>
            <a:endParaRPr lang="en-GB" dirty="0"/>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38242342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lstStyle/>
          <a:p>
            <a:r>
              <a:rPr lang="en-GB" dirty="0" smtClean="0"/>
              <a:t>Oedipus Rex</a:t>
            </a:r>
            <a:endParaRPr lang="en-GB" dirty="0"/>
          </a:p>
        </p:txBody>
      </p:sp>
      <p:sp>
        <p:nvSpPr>
          <p:cNvPr id="3" name="Content Placeholder 2"/>
          <p:cNvSpPr>
            <a:spLocks noGrp="1"/>
          </p:cNvSpPr>
          <p:nvPr>
            <p:ph idx="1"/>
          </p:nvPr>
        </p:nvSpPr>
        <p:spPr>
          <a:xfrm>
            <a:off x="467544" y="1600200"/>
            <a:ext cx="3744416" cy="4709120"/>
          </a:xfrm>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marL="0" indent="0">
              <a:buNone/>
            </a:pPr>
            <a:r>
              <a:rPr lang="en-GB" dirty="0" smtClean="0"/>
              <a:t>Oedipus was a Greek story about a king who left his kingdom</a:t>
            </a:r>
          </a:p>
          <a:p>
            <a:pPr marL="0" indent="0">
              <a:buNone/>
            </a:pPr>
            <a:endParaRPr lang="en-GB" dirty="0" smtClean="0"/>
          </a:p>
          <a:p>
            <a:pPr marL="0" indent="0">
              <a:buNone/>
            </a:pPr>
            <a:r>
              <a:rPr lang="en-GB" dirty="0" smtClean="0"/>
              <a:t>He returned years later and married a woman, who it later turned out was his mother, and killed a man, who it later turned out was his father</a:t>
            </a:r>
          </a:p>
          <a:p>
            <a:pPr marL="0" indent="0">
              <a:buNone/>
            </a:pPr>
            <a:endParaRPr lang="en-GB" dirty="0" smtClean="0"/>
          </a:p>
          <a:p>
            <a:pPr marL="0" indent="0">
              <a:buNone/>
            </a:pPr>
            <a:r>
              <a:rPr lang="en-GB" dirty="0" smtClean="0"/>
              <a:t>In a rage, he blinded himself with pins</a:t>
            </a:r>
            <a:endParaRPr lang="en-GB" dirty="0"/>
          </a:p>
        </p:txBody>
      </p:sp>
      <p:pic>
        <p:nvPicPr>
          <p:cNvPr id="2050" name="Picture 2" descr="Image result for oedipus re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1988840"/>
            <a:ext cx="4547224" cy="3945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3909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lstStyle/>
          <a:p>
            <a:r>
              <a:rPr lang="en-GB" dirty="0" smtClean="0"/>
              <a:t>Oedipus Complex</a:t>
            </a:r>
            <a:endParaRPr lang="en-GB" dirty="0"/>
          </a:p>
        </p:txBody>
      </p:sp>
      <p:sp>
        <p:nvSpPr>
          <p:cNvPr id="3" name="Content Placeholder 2"/>
          <p:cNvSpPr>
            <a:spLocks noGrp="1"/>
          </p:cNvSpPr>
          <p:nvPr>
            <p:ph idx="1"/>
          </p:nvPr>
        </p:nvSpPr>
        <p:spPr>
          <a:xfrm>
            <a:off x="467544" y="1600200"/>
            <a:ext cx="4536504" cy="4709120"/>
          </a:xfrm>
        </p:spPr>
        <p:style>
          <a:lnRef idx="2">
            <a:schemeClr val="accent1"/>
          </a:lnRef>
          <a:fillRef idx="1">
            <a:schemeClr val="lt1"/>
          </a:fillRef>
          <a:effectRef idx="0">
            <a:schemeClr val="accent1"/>
          </a:effectRef>
          <a:fontRef idx="minor">
            <a:schemeClr val="dk1"/>
          </a:fontRef>
        </p:style>
        <p:txBody>
          <a:bodyPr anchor="ctr">
            <a:normAutofit fontScale="77500" lnSpcReduction="20000"/>
          </a:bodyPr>
          <a:lstStyle/>
          <a:p>
            <a:pPr marL="0" indent="0">
              <a:buNone/>
            </a:pPr>
            <a:r>
              <a:rPr lang="en-GB" b="1" dirty="0" smtClean="0"/>
              <a:t>Sigmund Freud</a:t>
            </a:r>
            <a:r>
              <a:rPr lang="en-GB" dirty="0" smtClean="0"/>
              <a:t>, a psychoanalyst, argued that all men secretly desire to marry their mothers and kill their fathers. </a:t>
            </a:r>
          </a:p>
          <a:p>
            <a:pPr marL="0" indent="0">
              <a:buNone/>
            </a:pPr>
            <a:endParaRPr lang="en-GB" dirty="0"/>
          </a:p>
          <a:p>
            <a:pPr marL="0" indent="0">
              <a:buNone/>
            </a:pPr>
            <a:r>
              <a:rPr lang="en-GB" dirty="0" smtClean="0"/>
              <a:t>He argued that this is a </a:t>
            </a:r>
            <a:r>
              <a:rPr lang="en-GB" b="1" dirty="0" smtClean="0"/>
              <a:t>subconscious desire </a:t>
            </a:r>
            <a:r>
              <a:rPr lang="en-GB" dirty="0" smtClean="0"/>
              <a:t>which we </a:t>
            </a:r>
            <a:r>
              <a:rPr lang="en-GB" b="1" dirty="0" smtClean="0"/>
              <a:t>repress</a:t>
            </a:r>
            <a:r>
              <a:rPr lang="en-GB" dirty="0" smtClean="0"/>
              <a:t>.</a:t>
            </a:r>
          </a:p>
          <a:p>
            <a:pPr marL="0" indent="0">
              <a:buNone/>
            </a:pPr>
            <a:endParaRPr lang="en-GB" dirty="0"/>
          </a:p>
          <a:p>
            <a:pPr marL="0" indent="0">
              <a:buNone/>
            </a:pPr>
            <a:r>
              <a:rPr lang="en-GB" dirty="0" smtClean="0"/>
              <a:t>The opposite of it, is called the </a:t>
            </a:r>
            <a:r>
              <a:rPr lang="en-GB" b="1" dirty="0" smtClean="0"/>
              <a:t>Electra Complex </a:t>
            </a:r>
            <a:r>
              <a:rPr lang="en-GB" dirty="0" smtClean="0"/>
              <a:t>where girls compete with their mothers for their father’s attention.</a:t>
            </a:r>
            <a:endParaRPr lang="en-GB" dirty="0"/>
          </a:p>
        </p:txBody>
      </p:sp>
      <p:pic>
        <p:nvPicPr>
          <p:cNvPr id="3074" name="Picture 2" descr="Image result for oedipus comple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2785021"/>
            <a:ext cx="333375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8431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Image result for macbe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8801"/>
            <a:ext cx="4851603" cy="273630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GB" dirty="0" smtClean="0"/>
              <a:t>Macbeth &amp; Oedipus</a:t>
            </a:r>
            <a:endParaRPr lang="en-GB" dirty="0"/>
          </a:p>
        </p:txBody>
      </p:sp>
      <p:pic>
        <p:nvPicPr>
          <p:cNvPr id="1028" name="Picture 4" descr="Image result for macbeth oedip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3356992"/>
            <a:ext cx="4463058" cy="3062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8868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“And chastise with the valour of my tongue”</a:t>
            </a:r>
            <a:endParaRPr lang="en-GB" dirty="0"/>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2024" t="23661" r="31548" b="30952"/>
          <a:stretch/>
        </p:blipFill>
        <p:spPr bwMode="auto">
          <a:xfrm>
            <a:off x="179513" y="1556792"/>
            <a:ext cx="4897531" cy="3151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descr="Image result for chasti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165" y="4927232"/>
            <a:ext cx="2762250" cy="165735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Image result for chasti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2282" y="1124744"/>
            <a:ext cx="2966182" cy="273630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Image result for chastis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80" y="4708158"/>
            <a:ext cx="2143125" cy="2095501"/>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Image result for chastis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5950" y="4149080"/>
            <a:ext cx="2858476" cy="2141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8482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dirty="0" smtClean="0"/>
              <a:t>after killing the king, she tries to get him to wash this “filthy witness from your hands”</a:t>
            </a:r>
            <a:endParaRPr lang="en-GB" sz="3600" dirty="0"/>
          </a:p>
        </p:txBody>
      </p:sp>
      <p:pic>
        <p:nvPicPr>
          <p:cNvPr id="5122" name="Picture 2" descr="Image result for snow white wash his han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5" y="1779340"/>
            <a:ext cx="4873001" cy="301082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Image result for act 2 scene 2 macbet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436411"/>
            <a:ext cx="3674388" cy="3674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7626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dirty="0" smtClean="0"/>
              <a:t>“Why </a:t>
            </a:r>
            <a:r>
              <a:rPr lang="en-GB" sz="2800" dirty="0"/>
              <a:t>did you bring these daggers from the place?</a:t>
            </a:r>
            <a:br>
              <a:rPr lang="en-GB" sz="2800" dirty="0"/>
            </a:br>
            <a:r>
              <a:rPr lang="en-GB" sz="2800" dirty="0"/>
              <a:t>They must lie there. Go carry them and smear</a:t>
            </a:r>
            <a:br>
              <a:rPr lang="en-GB" sz="2800" dirty="0"/>
            </a:br>
            <a:r>
              <a:rPr lang="en-GB" sz="2800" dirty="0"/>
              <a:t>The sleepy grooms with blood</a:t>
            </a:r>
            <a:r>
              <a:rPr lang="en-GB" sz="2800" dirty="0" smtClean="0"/>
              <a:t>.”</a:t>
            </a:r>
            <a:endParaRPr lang="en-GB" sz="2800" dirty="0"/>
          </a:p>
        </p:txBody>
      </p:sp>
      <p:pic>
        <p:nvPicPr>
          <p:cNvPr id="5128" name="Picture 8" descr="Image result for macbeth wash his han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52241"/>
            <a:ext cx="3528392" cy="4625056"/>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Image result for mother telling off chil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2420888"/>
            <a:ext cx="4457700" cy="304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7723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a:p>
        </p:txBody>
      </p:sp>
      <p:sp>
        <p:nvSpPr>
          <p:cNvPr id="4" name="Title 3"/>
          <p:cNvSpPr>
            <a:spLocks noGrp="1"/>
          </p:cNvSpPr>
          <p:nvPr>
            <p:ph type="title"/>
          </p:nvPr>
        </p:nvSpPr>
        <p:spPr/>
        <p:txBody>
          <a:bodyPr/>
          <a:lstStyle/>
          <a:p>
            <a:endParaRPr lang="en-GB"/>
          </a:p>
        </p:txBody>
      </p:sp>
      <p:pic>
        <p:nvPicPr>
          <p:cNvPr id="7170" name="Picture 2" descr="Image result for it is the eye of childhood that fears a painted devi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88640"/>
            <a:ext cx="809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devil makeup"/>
          <p:cNvPicPr>
            <a:picLocks noChangeAspect="1" noChangeArrowheads="1"/>
          </p:cNvPicPr>
          <p:nvPr/>
        </p:nvPicPr>
        <p:blipFill rotWithShape="1">
          <a:blip r:embed="rId3">
            <a:extLst>
              <a:ext uri="{28A0092B-C50C-407E-A947-70E740481C1C}">
                <a14:useLocalDpi xmlns:a14="http://schemas.microsoft.com/office/drawing/2010/main" val="0"/>
              </a:ext>
            </a:extLst>
          </a:blip>
          <a:srcRect l="16851"/>
          <a:stretch/>
        </p:blipFill>
        <p:spPr bwMode="auto">
          <a:xfrm>
            <a:off x="5796136" y="2852936"/>
            <a:ext cx="3167991"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3884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47" t="38542" r="68572" b="34970"/>
          <a:stretch/>
        </p:blipFill>
        <p:spPr bwMode="auto">
          <a:xfrm>
            <a:off x="251520" y="476672"/>
            <a:ext cx="5303509"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descr="Image result for old lady telling ghost story by firesid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0" y="4090861"/>
            <a:ext cx="3719048" cy="2558494"/>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Image result for old lady telling ghost story by firesid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0381" y="323880"/>
            <a:ext cx="3718773" cy="245704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95536" y="4941168"/>
            <a:ext cx="4572000" cy="156966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r>
              <a:rPr lang="en-GB" sz="2400" dirty="0" smtClean="0"/>
              <a:t>This reminds me of a mother scolding her child after hearing too many tales of some monster under the bed. </a:t>
            </a:r>
          </a:p>
        </p:txBody>
      </p:sp>
    </p:spTree>
    <p:extLst>
      <p:ext uri="{BB962C8B-B14F-4D97-AF65-F5344CB8AC3E}">
        <p14:creationId xmlns:p14="http://schemas.microsoft.com/office/powerpoint/2010/main" val="8899618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dirty="0"/>
              <a:t>Be innocent of the knowledge, dearest chuck,</a:t>
            </a:r>
            <a:br>
              <a:rPr lang="en-GB" sz="3200" dirty="0"/>
            </a:br>
            <a:r>
              <a:rPr lang="en-GB" sz="3200" dirty="0"/>
              <a:t>Till thou applaud the deed. </a:t>
            </a:r>
          </a:p>
        </p:txBody>
      </p:sp>
      <p:pic>
        <p:nvPicPr>
          <p:cNvPr id="9218" name="Picture 2" descr="Image result for potty training proud par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647419"/>
            <a:ext cx="6235452" cy="4694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039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18658"/>
          </a:xfrm>
        </p:spPr>
        <p:txBody>
          <a:bodyPr>
            <a:normAutofit/>
          </a:bodyPr>
          <a:lstStyle/>
          <a:p>
            <a:r>
              <a:rPr lang="en-GB" dirty="0" smtClean="0"/>
              <a:t>Given this reading of the play, let’s reconsider the line – from A1 S7 – that finally tips the scales and pushes Macbeth into killing the king…</a:t>
            </a:r>
            <a:endParaRPr lang="en-GB" dirty="0"/>
          </a:p>
        </p:txBody>
      </p:sp>
    </p:spTree>
    <p:extLst>
      <p:ext uri="{BB962C8B-B14F-4D97-AF65-F5344CB8AC3E}">
        <p14:creationId xmlns:p14="http://schemas.microsoft.com/office/powerpoint/2010/main" val="25564916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6995120" cy="2620888"/>
          </a:xfrm>
        </p:spPr>
        <p:txBody>
          <a:bodyPr anchor="ctr">
            <a:normAutofit fontScale="85000" lnSpcReduction="20000"/>
          </a:bodyPr>
          <a:lstStyle/>
          <a:p>
            <a:pPr marL="0" indent="0">
              <a:buNone/>
            </a:pPr>
            <a:r>
              <a:rPr lang="en-GB" i="1" dirty="0" smtClean="0"/>
              <a:t>I </a:t>
            </a:r>
            <a:r>
              <a:rPr lang="en-GB" i="1" dirty="0"/>
              <a:t>have given suck, and know</a:t>
            </a:r>
          </a:p>
          <a:p>
            <a:pPr marL="0" indent="0">
              <a:buNone/>
            </a:pPr>
            <a:r>
              <a:rPr lang="en-GB" i="1" dirty="0"/>
              <a:t>How tender ’tis to love the babe that milks me.</a:t>
            </a:r>
          </a:p>
          <a:p>
            <a:pPr marL="0" indent="0">
              <a:buNone/>
            </a:pPr>
            <a:r>
              <a:rPr lang="en-GB" i="1" dirty="0"/>
              <a:t>I would, while it was smiling in my face,</a:t>
            </a:r>
          </a:p>
          <a:p>
            <a:pPr marL="0" indent="0">
              <a:buNone/>
            </a:pPr>
            <a:r>
              <a:rPr lang="en-GB" i="1" dirty="0"/>
              <a:t>Have plucked my nipple from his boneless gums</a:t>
            </a:r>
          </a:p>
          <a:p>
            <a:pPr marL="0" indent="0">
              <a:buNone/>
            </a:pPr>
            <a:r>
              <a:rPr lang="en-GB" i="1" dirty="0"/>
              <a:t>And dashed the brains out, had I so sworn as you</a:t>
            </a:r>
          </a:p>
          <a:p>
            <a:pPr marL="0" indent="0">
              <a:buNone/>
            </a:pPr>
            <a:r>
              <a:rPr lang="en-GB" i="1" dirty="0"/>
              <a:t>Have done to this</a:t>
            </a:r>
            <a:r>
              <a:rPr lang="en-GB" i="1" dirty="0" smtClean="0"/>
              <a:t>.</a:t>
            </a:r>
            <a:endParaRPr lang="en-GB" i="1" dirty="0"/>
          </a:p>
        </p:txBody>
      </p:sp>
      <p:sp>
        <p:nvSpPr>
          <p:cNvPr id="4" name="Rectangle 3"/>
          <p:cNvSpPr/>
          <p:nvPr/>
        </p:nvSpPr>
        <p:spPr>
          <a:xfrm>
            <a:off x="2123728" y="4509120"/>
            <a:ext cx="6768752" cy="20162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3600" dirty="0" smtClean="0"/>
              <a:t>Who is the real babe?</a:t>
            </a:r>
          </a:p>
          <a:p>
            <a:pPr algn="ctr"/>
            <a:r>
              <a:rPr lang="en-GB" sz="3600" dirty="0" smtClean="0"/>
              <a:t>Who is she really threatening here?</a:t>
            </a:r>
          </a:p>
        </p:txBody>
      </p:sp>
    </p:spTree>
    <p:extLst>
      <p:ext uri="{BB962C8B-B14F-4D97-AF65-F5344CB8AC3E}">
        <p14:creationId xmlns:p14="http://schemas.microsoft.com/office/powerpoint/2010/main" val="5157304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a:t>How does Shakespeare present the relationship between Macbeth and Lady Macbeth</a:t>
            </a:r>
            <a:r>
              <a:rPr lang="en-GB" sz="3200" b="1" dirty="0" smtClean="0"/>
              <a:t>?</a:t>
            </a:r>
            <a:endParaRPr lang="en-GB" sz="3200" dirty="0"/>
          </a:p>
        </p:txBody>
      </p:sp>
      <p:sp>
        <p:nvSpPr>
          <p:cNvPr id="3" name="Content Placeholder 2"/>
          <p:cNvSpPr>
            <a:spLocks noGrp="1"/>
          </p:cNvSpPr>
          <p:nvPr>
            <p:ph idx="1"/>
          </p:nvPr>
        </p:nvSpPr>
        <p:spPr>
          <a:xfrm>
            <a:off x="457200" y="1600200"/>
            <a:ext cx="8229600" cy="5141168"/>
          </a:xfrm>
        </p:spPr>
        <p:txBody>
          <a:bodyPr>
            <a:normAutofit fontScale="62500" lnSpcReduction="20000"/>
          </a:bodyPr>
          <a:lstStyle/>
          <a:p>
            <a:pPr marL="0" indent="0">
              <a:buNone/>
            </a:pPr>
            <a:endParaRPr lang="en-GB" dirty="0"/>
          </a:p>
          <a:p>
            <a:pPr marL="0" indent="0">
              <a:buNone/>
            </a:pPr>
            <a:r>
              <a:rPr lang="en-GB" b="1" dirty="0"/>
              <a:t>LADY MACBETH</a:t>
            </a:r>
            <a:endParaRPr lang="en-GB" dirty="0"/>
          </a:p>
          <a:p>
            <a:pPr marL="0" indent="0">
              <a:buNone/>
            </a:pPr>
            <a:r>
              <a:rPr lang="en-GB" dirty="0"/>
              <a:t>Was the hope drunk</a:t>
            </a:r>
            <a:br>
              <a:rPr lang="en-GB" dirty="0"/>
            </a:br>
            <a:r>
              <a:rPr lang="en-GB" dirty="0"/>
              <a:t>Wherein you </a:t>
            </a:r>
            <a:r>
              <a:rPr lang="en-GB" dirty="0" err="1"/>
              <a:t>dress'd</a:t>
            </a:r>
            <a:r>
              <a:rPr lang="en-GB" dirty="0"/>
              <a:t> yourself? hath it slept since?</a:t>
            </a:r>
            <a:br>
              <a:rPr lang="en-GB" dirty="0"/>
            </a:br>
            <a:r>
              <a:rPr lang="en-GB" dirty="0"/>
              <a:t>And wakes it now, to look so green and pale</a:t>
            </a:r>
            <a:br>
              <a:rPr lang="en-GB" dirty="0"/>
            </a:br>
            <a:r>
              <a:rPr lang="en-GB" dirty="0"/>
              <a:t>At what it did so freely? From this time</a:t>
            </a:r>
            <a:br>
              <a:rPr lang="en-GB" dirty="0"/>
            </a:br>
            <a:r>
              <a:rPr lang="en-GB" dirty="0"/>
              <a:t>Such I account thy love. Art thou afeard</a:t>
            </a:r>
            <a:br>
              <a:rPr lang="en-GB" dirty="0"/>
            </a:br>
            <a:r>
              <a:rPr lang="en-GB" dirty="0"/>
              <a:t>To be the same in thine own act and valour</a:t>
            </a:r>
            <a:br>
              <a:rPr lang="en-GB" dirty="0"/>
            </a:br>
            <a:r>
              <a:rPr lang="en-GB" dirty="0"/>
              <a:t>As thou art in desire? Wouldst thou have that</a:t>
            </a:r>
            <a:br>
              <a:rPr lang="en-GB" dirty="0"/>
            </a:br>
            <a:r>
              <a:rPr lang="en-GB" dirty="0"/>
              <a:t>Which thou </a:t>
            </a:r>
            <a:r>
              <a:rPr lang="en-GB" dirty="0" err="1"/>
              <a:t>esteem'st</a:t>
            </a:r>
            <a:r>
              <a:rPr lang="en-GB" dirty="0"/>
              <a:t> the ornament of life,</a:t>
            </a:r>
            <a:br>
              <a:rPr lang="en-GB" dirty="0"/>
            </a:br>
            <a:r>
              <a:rPr lang="en-GB" dirty="0"/>
              <a:t>And live a coward in thine own esteem,</a:t>
            </a:r>
            <a:br>
              <a:rPr lang="en-GB" dirty="0"/>
            </a:br>
            <a:r>
              <a:rPr lang="en-GB" dirty="0"/>
              <a:t>Letting 'I dare not' wait upon 'I would,'</a:t>
            </a:r>
            <a:br>
              <a:rPr lang="en-GB" dirty="0"/>
            </a:br>
            <a:r>
              <a:rPr lang="en-GB" dirty="0"/>
              <a:t>Like the poor cat </a:t>
            </a:r>
            <a:r>
              <a:rPr lang="en-GB" dirty="0" err="1"/>
              <a:t>i</a:t>
            </a:r>
            <a:r>
              <a:rPr lang="en-GB" dirty="0"/>
              <a:t>' the adage?</a:t>
            </a:r>
          </a:p>
          <a:p>
            <a:pPr marL="0" indent="0">
              <a:buNone/>
            </a:pPr>
            <a:r>
              <a:rPr lang="en-GB" b="1" dirty="0"/>
              <a:t> </a:t>
            </a:r>
            <a:endParaRPr lang="en-GB" dirty="0"/>
          </a:p>
          <a:p>
            <a:pPr marL="0" indent="0">
              <a:buNone/>
            </a:pPr>
            <a:r>
              <a:rPr lang="en-GB" b="1" dirty="0"/>
              <a:t>MACBETH</a:t>
            </a:r>
            <a:endParaRPr lang="en-GB" dirty="0"/>
          </a:p>
          <a:p>
            <a:pPr marL="0" indent="0">
              <a:buNone/>
            </a:pPr>
            <a:r>
              <a:rPr lang="en-GB" dirty="0" err="1"/>
              <a:t>Prithee</a:t>
            </a:r>
            <a:r>
              <a:rPr lang="en-GB" dirty="0"/>
              <a:t>, peace:</a:t>
            </a:r>
            <a:br>
              <a:rPr lang="en-GB" dirty="0"/>
            </a:br>
            <a:r>
              <a:rPr lang="en-GB" dirty="0"/>
              <a:t>I dare do all that may become a man;</a:t>
            </a:r>
            <a:br>
              <a:rPr lang="en-GB" dirty="0"/>
            </a:br>
            <a:r>
              <a:rPr lang="en-GB" dirty="0"/>
              <a:t>Who dares do more is none</a:t>
            </a:r>
            <a:r>
              <a:rPr lang="en-GB" dirty="0" smtClean="0"/>
              <a:t>.</a:t>
            </a:r>
            <a:endParaRPr lang="en-GB" dirty="0"/>
          </a:p>
        </p:txBody>
      </p:sp>
    </p:spTree>
    <p:extLst>
      <p:ext uri="{BB962C8B-B14F-4D97-AF65-F5344CB8AC3E}">
        <p14:creationId xmlns:p14="http://schemas.microsoft.com/office/powerpoint/2010/main" val="14322966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928992" cy="6480720"/>
          </a:xfrm>
        </p:spPr>
        <p:txBody>
          <a:bodyPr>
            <a:normAutofit fontScale="70000" lnSpcReduction="20000"/>
          </a:bodyPr>
          <a:lstStyle/>
          <a:p>
            <a:pPr marL="0" indent="536575" fontAlgn="base">
              <a:buNone/>
            </a:pPr>
            <a:r>
              <a:rPr lang="en-GB" dirty="0"/>
              <a:t>While we’re looking at Macbeth as a henpecked husband though, it’s worth looking at the last thing she says before he changes his mind: the whole baby killing business. Obviously, this has led to all the discussion over whether or not they had children before, though I see something different:</a:t>
            </a:r>
          </a:p>
          <a:p>
            <a:pPr marL="0" indent="536575" fontAlgn="base">
              <a:buNone/>
            </a:pPr>
            <a:r>
              <a:rPr lang="en-GB" dirty="0"/>
              <a:t>In A1 S5 Lady Macbeth says that she wanted to “chastise” Macbeth – the actions of a parent; after killing the king, she tries to get him to wash his hands; she tells him off for bringing the daggers with him; she tells him that it’s “the eye of childhood that fears the painted devil.” After he sees the ghost she compares it to the “air drawn dagger” he saw, in a way that reminds me of a mother scolding her child after hearing too many tales of some monster under the bed. And in my favourite moment, Macbeth tells her, after he’s planned to kill Banquo, that she should know nothing of it until she “applaud the deed.” I imagine some strange toddler version Macbeth sitting on the potty while his beaming mother claps and smiles at his ability to do just what she’s taught him; </a:t>
            </a:r>
            <a:r>
              <a:rPr lang="en-GB" dirty="0" err="1"/>
              <a:t>becauase</a:t>
            </a:r>
            <a:r>
              <a:rPr lang="en-GB" dirty="0"/>
              <a:t>, after all, here – when he kills Banquo – he is really only doing exactly what she taught him. He is hers now; owned, signed, sealed, delivered.</a:t>
            </a:r>
          </a:p>
          <a:p>
            <a:pPr marL="0" indent="536575" fontAlgn="base">
              <a:buNone/>
            </a:pPr>
            <a:r>
              <a:rPr lang="en-GB" dirty="0"/>
              <a:t>Based on the above interpretation of their relationship being oedipal, it’s reasonable to suggest that the reason Macbeth was so disturbed by the image of his wife smashing their child’s head against a wall had nothing to do with any theoretic child, but everything to do with the idea that Macbeth </a:t>
            </a:r>
            <a:r>
              <a:rPr lang="en-GB" i="1" dirty="0"/>
              <a:t>was</a:t>
            </a:r>
            <a:r>
              <a:rPr lang="en-GB" dirty="0"/>
              <a:t> the child. Lady Macbeth killing their child was a veiled threat of violence against Macbeth himself.</a:t>
            </a:r>
          </a:p>
          <a:p>
            <a:pPr marL="0" indent="536575">
              <a:buNone/>
            </a:pPr>
            <a:endParaRPr lang="en-GB" dirty="0"/>
          </a:p>
        </p:txBody>
      </p:sp>
    </p:spTree>
    <p:extLst>
      <p:ext uri="{BB962C8B-B14F-4D97-AF65-F5344CB8AC3E}">
        <p14:creationId xmlns:p14="http://schemas.microsoft.com/office/powerpoint/2010/main" val="4152058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611</Words>
  <Application>Microsoft Office PowerPoint</Application>
  <PresentationFormat>On-screen Show (4:3)</PresentationFormat>
  <Paragraphs>38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Oedipus &amp; Macbeth</vt:lpstr>
      <vt:lpstr>Oedipus Rex</vt:lpstr>
      <vt:lpstr>Oedipus Complex</vt:lpstr>
      <vt:lpstr>Macbeth &amp; Oedipus</vt:lpstr>
      <vt:lpstr>“And chastise with the valour of my tongue”</vt:lpstr>
      <vt:lpstr>after killing the king, she tries to get him to wash this “filthy witness from your hands”</vt:lpstr>
      <vt:lpstr>“Why did you bring these daggers from the place? They must lie there. Go carry them and smear The sleepy grooms with blood.”</vt:lpstr>
      <vt:lpstr>PowerPoint Presentation</vt:lpstr>
      <vt:lpstr>PowerPoint Presentation</vt:lpstr>
      <vt:lpstr>Be innocent of the knowledge, dearest chuck, Till thou applaud the deed. </vt:lpstr>
      <vt:lpstr>Given this reading of the play, let’s reconsider the line – from A1 S7 – that finally tips the scales and pushes Macbeth into killing the king…</vt:lpstr>
      <vt:lpstr>PowerPoint Presentation</vt:lpstr>
      <vt:lpstr>How does Shakespeare present the relationship between Macbeth and Lady Macbeth?</vt:lpstr>
      <vt:lpstr>PowerPoint Presentation</vt:lpstr>
    </vt:vector>
  </TitlesOfParts>
  <Company>Longhill High School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Oedipus &amp; Madbeth</dc:title>
  <dc:creator>Steve Laycock [Staff]</dc:creator>
  <cp:lastModifiedBy>Steve Laycock [Staff]</cp:lastModifiedBy>
  <cp:revision>8</cp:revision>
  <dcterms:created xsi:type="dcterms:W3CDTF">2018-03-19T16:43:40Z</dcterms:created>
  <dcterms:modified xsi:type="dcterms:W3CDTF">2018-03-21T12:55:50Z</dcterms:modified>
</cp:coreProperties>
</file>