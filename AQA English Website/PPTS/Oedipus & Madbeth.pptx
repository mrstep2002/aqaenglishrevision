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jp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8.jpg"/><Relationship Id="rId6" Type="http://schemas.openxmlformats.org/officeDocument/2006/relationships/image" Target="../media/image1.jpg"/><Relationship Id="rId7"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7.jp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GB"/>
              <a:t>Oedipus &amp; Macbeth</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GB">
                <a:solidFill>
                  <a:schemeClr val="dk1"/>
                </a:solidFill>
                <a:latin typeface="Calibri"/>
                <a:ea typeface="Calibri"/>
                <a:cs typeface="Calibri"/>
                <a:sym typeface="Calibri"/>
              </a:rPr>
              <a:t>Oedipus Rex</a:t>
            </a:r>
            <a:endParaRPr/>
          </a:p>
        </p:txBody>
      </p:sp>
      <p:sp>
        <p:nvSpPr>
          <p:cNvPr id="91" name="Google Shape;91;p14"/>
          <p:cNvSpPr txBox="1"/>
          <p:nvPr>
            <p:ph idx="1" type="body"/>
          </p:nvPr>
        </p:nvSpPr>
        <p:spPr>
          <a:xfrm>
            <a:off x="467544" y="1600200"/>
            <a:ext cx="3744416" cy="470912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2720"/>
              <a:buNone/>
            </a:pPr>
            <a:r>
              <a:rPr lang="en-GB" sz="2720">
                <a:solidFill>
                  <a:schemeClr val="dk1"/>
                </a:solidFill>
                <a:latin typeface="Calibri"/>
                <a:ea typeface="Calibri"/>
                <a:cs typeface="Calibri"/>
                <a:sym typeface="Calibri"/>
              </a:rPr>
              <a:t>Oedipus was a Greek story about a king who left his kingdom</a:t>
            </a:r>
            <a:endParaRPr/>
          </a:p>
          <a:p>
            <a:pPr indent="0" lvl="0" marL="0" rtl="0" algn="l">
              <a:lnSpc>
                <a:spcPct val="80000"/>
              </a:lnSpc>
              <a:spcBef>
                <a:spcPts val="544"/>
              </a:spcBef>
              <a:spcAft>
                <a:spcPts val="0"/>
              </a:spcAft>
              <a:buClr>
                <a:schemeClr val="dk1"/>
              </a:buClr>
              <a:buSzPts val="2720"/>
              <a:buNone/>
            </a:pPr>
            <a:r>
              <a:t/>
            </a:r>
            <a:endParaRPr sz="2720"/>
          </a:p>
          <a:p>
            <a:pPr indent="0" lvl="0" marL="0" rtl="0" algn="l">
              <a:lnSpc>
                <a:spcPct val="80000"/>
              </a:lnSpc>
              <a:spcBef>
                <a:spcPts val="544"/>
              </a:spcBef>
              <a:spcAft>
                <a:spcPts val="0"/>
              </a:spcAft>
              <a:buClr>
                <a:schemeClr val="dk1"/>
              </a:buClr>
              <a:buSzPts val="2720"/>
              <a:buNone/>
            </a:pPr>
            <a:r>
              <a:rPr lang="en-GB" sz="2720">
                <a:solidFill>
                  <a:schemeClr val="dk1"/>
                </a:solidFill>
                <a:latin typeface="Calibri"/>
                <a:ea typeface="Calibri"/>
                <a:cs typeface="Calibri"/>
                <a:sym typeface="Calibri"/>
              </a:rPr>
              <a:t>He returned years later and married a woman, who it later turned out was his mother, and killed a man, who it later turned out was his father</a:t>
            </a:r>
            <a:endParaRPr/>
          </a:p>
          <a:p>
            <a:pPr indent="0" lvl="0" marL="0" rtl="0" algn="l">
              <a:lnSpc>
                <a:spcPct val="80000"/>
              </a:lnSpc>
              <a:spcBef>
                <a:spcPts val="544"/>
              </a:spcBef>
              <a:spcAft>
                <a:spcPts val="0"/>
              </a:spcAft>
              <a:buClr>
                <a:schemeClr val="dk1"/>
              </a:buClr>
              <a:buSzPts val="2720"/>
              <a:buNone/>
            </a:pPr>
            <a:r>
              <a:t/>
            </a:r>
            <a:endParaRPr sz="2720"/>
          </a:p>
          <a:p>
            <a:pPr indent="0" lvl="0" marL="0" rtl="0" algn="l">
              <a:lnSpc>
                <a:spcPct val="80000"/>
              </a:lnSpc>
              <a:spcBef>
                <a:spcPts val="544"/>
              </a:spcBef>
              <a:spcAft>
                <a:spcPts val="0"/>
              </a:spcAft>
              <a:buClr>
                <a:schemeClr val="dk1"/>
              </a:buClr>
              <a:buSzPts val="2720"/>
              <a:buNone/>
            </a:pPr>
            <a:r>
              <a:rPr lang="en-GB" sz="2720">
                <a:solidFill>
                  <a:schemeClr val="dk1"/>
                </a:solidFill>
                <a:latin typeface="Calibri"/>
                <a:ea typeface="Calibri"/>
                <a:cs typeface="Calibri"/>
                <a:sym typeface="Calibri"/>
              </a:rPr>
              <a:t>In a rage, he blinded himself with pins</a:t>
            </a:r>
            <a:endParaRPr sz="2720"/>
          </a:p>
        </p:txBody>
      </p:sp>
      <p:pic>
        <p:nvPicPr>
          <p:cNvPr descr="Image result for oedipus rex" id="92" name="Google Shape;92;p14"/>
          <p:cNvPicPr preferRelativeResize="0"/>
          <p:nvPr/>
        </p:nvPicPr>
        <p:blipFill rotWithShape="1">
          <a:blip r:embed="rId3">
            <a:alphaModFix/>
          </a:blip>
          <a:srcRect b="0" l="0" r="0" t="0"/>
          <a:stretch/>
        </p:blipFill>
        <p:spPr>
          <a:xfrm>
            <a:off x="4355976" y="1988840"/>
            <a:ext cx="4547224" cy="39450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457200" y="274638"/>
            <a:ext cx="8229600" cy="1143000"/>
          </a:xfrm>
          <a:prstGeom prst="rect">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GB">
                <a:solidFill>
                  <a:schemeClr val="dk1"/>
                </a:solidFill>
                <a:latin typeface="Calibri"/>
                <a:ea typeface="Calibri"/>
                <a:cs typeface="Calibri"/>
                <a:sym typeface="Calibri"/>
              </a:rPr>
              <a:t>Oedipus Complex</a:t>
            </a:r>
            <a:endParaRPr/>
          </a:p>
        </p:txBody>
      </p:sp>
      <p:sp>
        <p:nvSpPr>
          <p:cNvPr id="98" name="Google Shape;98;p15"/>
          <p:cNvSpPr txBox="1"/>
          <p:nvPr>
            <p:ph idx="1" type="body"/>
          </p:nvPr>
        </p:nvSpPr>
        <p:spPr>
          <a:xfrm>
            <a:off x="467544" y="1600200"/>
            <a:ext cx="4536504" cy="470912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2480"/>
              <a:buNone/>
            </a:pPr>
            <a:r>
              <a:rPr b="1" lang="en-GB" sz="2480">
                <a:solidFill>
                  <a:schemeClr val="dk1"/>
                </a:solidFill>
                <a:latin typeface="Calibri"/>
                <a:ea typeface="Calibri"/>
                <a:cs typeface="Calibri"/>
                <a:sym typeface="Calibri"/>
              </a:rPr>
              <a:t>Sigmund Freud</a:t>
            </a:r>
            <a:r>
              <a:rPr lang="en-GB" sz="2480">
                <a:solidFill>
                  <a:schemeClr val="dk1"/>
                </a:solidFill>
                <a:latin typeface="Calibri"/>
                <a:ea typeface="Calibri"/>
                <a:cs typeface="Calibri"/>
                <a:sym typeface="Calibri"/>
              </a:rPr>
              <a:t>, a psychoanalyst, argued that all men secretly desire to marry their mothers and kill their fathers. </a:t>
            </a:r>
            <a:endParaRPr/>
          </a:p>
          <a:p>
            <a:pPr indent="0" lvl="0" marL="0" rtl="0" algn="l">
              <a:lnSpc>
                <a:spcPct val="80000"/>
              </a:lnSpc>
              <a:spcBef>
                <a:spcPts val="496"/>
              </a:spcBef>
              <a:spcAft>
                <a:spcPts val="0"/>
              </a:spcAft>
              <a:buClr>
                <a:schemeClr val="dk1"/>
              </a:buClr>
              <a:buSzPts val="2480"/>
              <a:buNone/>
            </a:pPr>
            <a:r>
              <a:t/>
            </a:r>
            <a:endParaRPr sz="2480"/>
          </a:p>
          <a:p>
            <a:pPr indent="0" lvl="0" marL="0" rtl="0" algn="l">
              <a:lnSpc>
                <a:spcPct val="80000"/>
              </a:lnSpc>
              <a:spcBef>
                <a:spcPts val="496"/>
              </a:spcBef>
              <a:spcAft>
                <a:spcPts val="0"/>
              </a:spcAft>
              <a:buClr>
                <a:schemeClr val="dk1"/>
              </a:buClr>
              <a:buSzPts val="2480"/>
              <a:buNone/>
            </a:pPr>
            <a:r>
              <a:rPr lang="en-GB" sz="2480">
                <a:solidFill>
                  <a:schemeClr val="dk1"/>
                </a:solidFill>
                <a:latin typeface="Calibri"/>
                <a:ea typeface="Calibri"/>
                <a:cs typeface="Calibri"/>
                <a:sym typeface="Calibri"/>
              </a:rPr>
              <a:t>He argued that this is a </a:t>
            </a:r>
            <a:r>
              <a:rPr b="1" lang="en-GB" sz="2480">
                <a:solidFill>
                  <a:schemeClr val="dk1"/>
                </a:solidFill>
                <a:latin typeface="Calibri"/>
                <a:ea typeface="Calibri"/>
                <a:cs typeface="Calibri"/>
                <a:sym typeface="Calibri"/>
              </a:rPr>
              <a:t>subconscious desire </a:t>
            </a:r>
            <a:r>
              <a:rPr lang="en-GB" sz="2480">
                <a:solidFill>
                  <a:schemeClr val="dk1"/>
                </a:solidFill>
                <a:latin typeface="Calibri"/>
                <a:ea typeface="Calibri"/>
                <a:cs typeface="Calibri"/>
                <a:sym typeface="Calibri"/>
              </a:rPr>
              <a:t>which we </a:t>
            </a:r>
            <a:r>
              <a:rPr b="1" lang="en-GB" sz="2480">
                <a:solidFill>
                  <a:schemeClr val="dk1"/>
                </a:solidFill>
                <a:latin typeface="Calibri"/>
                <a:ea typeface="Calibri"/>
                <a:cs typeface="Calibri"/>
                <a:sym typeface="Calibri"/>
              </a:rPr>
              <a:t>repress</a:t>
            </a:r>
            <a:r>
              <a:rPr lang="en-GB" sz="2480">
                <a:solidFill>
                  <a:schemeClr val="dk1"/>
                </a:solidFill>
                <a:latin typeface="Calibri"/>
                <a:ea typeface="Calibri"/>
                <a:cs typeface="Calibri"/>
                <a:sym typeface="Calibri"/>
              </a:rPr>
              <a:t>.</a:t>
            </a:r>
            <a:endParaRPr/>
          </a:p>
          <a:p>
            <a:pPr indent="0" lvl="0" marL="0" rtl="0" algn="l">
              <a:lnSpc>
                <a:spcPct val="80000"/>
              </a:lnSpc>
              <a:spcBef>
                <a:spcPts val="496"/>
              </a:spcBef>
              <a:spcAft>
                <a:spcPts val="0"/>
              </a:spcAft>
              <a:buClr>
                <a:schemeClr val="dk1"/>
              </a:buClr>
              <a:buSzPts val="2480"/>
              <a:buNone/>
            </a:pPr>
            <a:r>
              <a:t/>
            </a:r>
            <a:endParaRPr sz="2480"/>
          </a:p>
          <a:p>
            <a:pPr indent="0" lvl="0" marL="0" rtl="0" algn="l">
              <a:lnSpc>
                <a:spcPct val="80000"/>
              </a:lnSpc>
              <a:spcBef>
                <a:spcPts val="496"/>
              </a:spcBef>
              <a:spcAft>
                <a:spcPts val="0"/>
              </a:spcAft>
              <a:buClr>
                <a:schemeClr val="dk1"/>
              </a:buClr>
              <a:buSzPts val="2480"/>
              <a:buNone/>
            </a:pPr>
            <a:r>
              <a:rPr lang="en-GB" sz="2480">
                <a:solidFill>
                  <a:schemeClr val="dk1"/>
                </a:solidFill>
                <a:latin typeface="Calibri"/>
                <a:ea typeface="Calibri"/>
                <a:cs typeface="Calibri"/>
                <a:sym typeface="Calibri"/>
              </a:rPr>
              <a:t>The opposite of it, is called the </a:t>
            </a:r>
            <a:r>
              <a:rPr b="1" lang="en-GB" sz="2480">
                <a:solidFill>
                  <a:schemeClr val="dk1"/>
                </a:solidFill>
                <a:latin typeface="Calibri"/>
                <a:ea typeface="Calibri"/>
                <a:cs typeface="Calibri"/>
                <a:sym typeface="Calibri"/>
              </a:rPr>
              <a:t>Electra Complex </a:t>
            </a:r>
            <a:r>
              <a:rPr lang="en-GB" sz="2480">
                <a:solidFill>
                  <a:schemeClr val="dk1"/>
                </a:solidFill>
                <a:latin typeface="Calibri"/>
                <a:ea typeface="Calibri"/>
                <a:cs typeface="Calibri"/>
                <a:sym typeface="Calibri"/>
              </a:rPr>
              <a:t>where girls compete with their mothers for their father’s attention.</a:t>
            </a:r>
            <a:endParaRPr sz="2480"/>
          </a:p>
        </p:txBody>
      </p:sp>
      <p:pic>
        <p:nvPicPr>
          <p:cNvPr descr="Image result for oedipus complex" id="99" name="Google Shape;99;p15"/>
          <p:cNvPicPr preferRelativeResize="0"/>
          <p:nvPr/>
        </p:nvPicPr>
        <p:blipFill rotWithShape="1">
          <a:blip r:embed="rId3">
            <a:alphaModFix/>
          </a:blip>
          <a:srcRect b="0" l="0" r="0" t="0"/>
          <a:stretch/>
        </p:blipFill>
        <p:spPr>
          <a:xfrm>
            <a:off x="5364088" y="2785021"/>
            <a:ext cx="3333750" cy="2352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Image result for macbeth" id="104" name="Google Shape;104;p16"/>
          <p:cNvPicPr preferRelativeResize="0"/>
          <p:nvPr/>
        </p:nvPicPr>
        <p:blipFill rotWithShape="1">
          <a:blip r:embed="rId3">
            <a:alphaModFix/>
          </a:blip>
          <a:srcRect b="0" l="0" r="0" t="0"/>
          <a:stretch/>
        </p:blipFill>
        <p:spPr>
          <a:xfrm>
            <a:off x="467544" y="1628801"/>
            <a:ext cx="4851603" cy="2736304"/>
          </a:xfrm>
          <a:prstGeom prst="rect">
            <a:avLst/>
          </a:prstGeom>
          <a:noFill/>
          <a:ln>
            <a:noFill/>
          </a:ln>
        </p:spPr>
      </p:pic>
      <p:sp>
        <p:nvSpPr>
          <p:cNvPr id="105" name="Google Shape;105;p16"/>
          <p:cNvSpPr txBox="1"/>
          <p:nvPr>
            <p:ph type="title"/>
          </p:nvPr>
        </p:nvSpPr>
        <p:spPr>
          <a:xfrm>
            <a:off x="457200" y="274638"/>
            <a:ext cx="8229600" cy="114300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GB">
                <a:solidFill>
                  <a:schemeClr val="dk1"/>
                </a:solidFill>
                <a:latin typeface="Calibri"/>
                <a:ea typeface="Calibri"/>
                <a:cs typeface="Calibri"/>
                <a:sym typeface="Calibri"/>
              </a:rPr>
              <a:t>Macbeth &amp; Oedipus</a:t>
            </a:r>
            <a:endParaRPr/>
          </a:p>
        </p:txBody>
      </p:sp>
      <p:pic>
        <p:nvPicPr>
          <p:cNvPr descr="Image result for macbeth oedipus" id="106" name="Google Shape;106;p16"/>
          <p:cNvPicPr preferRelativeResize="0"/>
          <p:nvPr/>
        </p:nvPicPr>
        <p:blipFill rotWithShape="1">
          <a:blip r:embed="rId4">
            <a:alphaModFix/>
          </a:blip>
          <a:srcRect b="0" l="0" r="0" t="0"/>
          <a:stretch/>
        </p:blipFill>
        <p:spPr>
          <a:xfrm>
            <a:off x="4427984" y="3356992"/>
            <a:ext cx="4463058" cy="30623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959"/>
              <a:buFont typeface="Calibri"/>
              <a:buNone/>
            </a:pPr>
            <a:r>
              <a:rPr lang="en-GB" sz="3960"/>
              <a:t>“And chastise with the valour of my tongue”</a:t>
            </a:r>
            <a:endParaRPr sz="3960"/>
          </a:p>
        </p:txBody>
      </p:sp>
      <p:pic>
        <p:nvPicPr>
          <p:cNvPr id="112" name="Google Shape;112;p17"/>
          <p:cNvPicPr preferRelativeResize="0"/>
          <p:nvPr/>
        </p:nvPicPr>
        <p:blipFill rotWithShape="1">
          <a:blip r:embed="rId3">
            <a:alphaModFix/>
          </a:blip>
          <a:srcRect b="30952" l="12024" r="31548" t="23661"/>
          <a:stretch/>
        </p:blipFill>
        <p:spPr>
          <a:xfrm>
            <a:off x="179513" y="1556792"/>
            <a:ext cx="4897531" cy="3151366"/>
          </a:xfrm>
          <a:prstGeom prst="rect">
            <a:avLst/>
          </a:prstGeom>
          <a:noFill/>
          <a:ln>
            <a:noFill/>
          </a:ln>
        </p:spPr>
      </p:pic>
      <p:pic>
        <p:nvPicPr>
          <p:cNvPr descr="Image result for chastise" id="113" name="Google Shape;113;p17"/>
          <p:cNvPicPr preferRelativeResize="0"/>
          <p:nvPr/>
        </p:nvPicPr>
        <p:blipFill rotWithShape="1">
          <a:blip r:embed="rId4">
            <a:alphaModFix/>
          </a:blip>
          <a:srcRect b="0" l="0" r="0" t="0"/>
          <a:stretch/>
        </p:blipFill>
        <p:spPr>
          <a:xfrm>
            <a:off x="246165" y="4927232"/>
            <a:ext cx="2762250" cy="1657351"/>
          </a:xfrm>
          <a:prstGeom prst="rect">
            <a:avLst/>
          </a:prstGeom>
          <a:noFill/>
          <a:ln>
            <a:noFill/>
          </a:ln>
        </p:spPr>
      </p:pic>
      <p:pic>
        <p:nvPicPr>
          <p:cNvPr descr="Image result for chastise" id="114" name="Google Shape;114;p17"/>
          <p:cNvPicPr preferRelativeResize="0"/>
          <p:nvPr/>
        </p:nvPicPr>
        <p:blipFill rotWithShape="1">
          <a:blip r:embed="rId5">
            <a:alphaModFix/>
          </a:blip>
          <a:srcRect b="0" l="0" r="0" t="0"/>
          <a:stretch/>
        </p:blipFill>
        <p:spPr>
          <a:xfrm>
            <a:off x="5782282" y="1124744"/>
            <a:ext cx="2966182" cy="2736304"/>
          </a:xfrm>
          <a:prstGeom prst="rect">
            <a:avLst/>
          </a:prstGeom>
          <a:noFill/>
          <a:ln>
            <a:noFill/>
          </a:ln>
        </p:spPr>
      </p:pic>
      <p:pic>
        <p:nvPicPr>
          <p:cNvPr descr="Image result for chastise" id="115" name="Google Shape;115;p17"/>
          <p:cNvPicPr preferRelativeResize="0"/>
          <p:nvPr/>
        </p:nvPicPr>
        <p:blipFill rotWithShape="1">
          <a:blip r:embed="rId6">
            <a:alphaModFix/>
          </a:blip>
          <a:srcRect b="0" l="0" r="0" t="0"/>
          <a:stretch/>
        </p:blipFill>
        <p:spPr>
          <a:xfrm>
            <a:off x="3491880" y="4708158"/>
            <a:ext cx="2143125" cy="2095501"/>
          </a:xfrm>
          <a:prstGeom prst="rect">
            <a:avLst/>
          </a:prstGeom>
          <a:noFill/>
          <a:ln>
            <a:noFill/>
          </a:ln>
        </p:spPr>
      </p:pic>
      <p:pic>
        <p:nvPicPr>
          <p:cNvPr descr="Image result for chastise" id="116" name="Google Shape;116;p17"/>
          <p:cNvPicPr preferRelativeResize="0"/>
          <p:nvPr/>
        </p:nvPicPr>
        <p:blipFill rotWithShape="1">
          <a:blip r:embed="rId7">
            <a:alphaModFix/>
          </a:blip>
          <a:srcRect b="0" l="0" r="0" t="0"/>
          <a:stretch/>
        </p:blipFill>
        <p:spPr>
          <a:xfrm>
            <a:off x="5945950" y="4149080"/>
            <a:ext cx="2858476" cy="21410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GB" sz="3600"/>
              <a:t>after killing the king, she tries to get him to wash this “filthy witness from your hands”</a:t>
            </a:r>
            <a:endParaRPr sz="3600"/>
          </a:p>
        </p:txBody>
      </p:sp>
      <p:pic>
        <p:nvPicPr>
          <p:cNvPr descr="Image result for snow white wash his hands" id="122" name="Google Shape;122;p18"/>
          <p:cNvPicPr preferRelativeResize="0"/>
          <p:nvPr/>
        </p:nvPicPr>
        <p:blipFill rotWithShape="1">
          <a:blip r:embed="rId3">
            <a:alphaModFix/>
          </a:blip>
          <a:srcRect b="0" l="0" r="0" t="0"/>
          <a:stretch/>
        </p:blipFill>
        <p:spPr>
          <a:xfrm>
            <a:off x="3995935" y="1779340"/>
            <a:ext cx="4873001" cy="3010820"/>
          </a:xfrm>
          <a:prstGeom prst="rect">
            <a:avLst/>
          </a:prstGeom>
          <a:noFill/>
          <a:ln>
            <a:noFill/>
          </a:ln>
        </p:spPr>
      </p:pic>
      <p:pic>
        <p:nvPicPr>
          <p:cNvPr descr="Image result for act 2 scene 2 macbeth" id="123" name="Google Shape;123;p18"/>
          <p:cNvPicPr preferRelativeResize="0"/>
          <p:nvPr/>
        </p:nvPicPr>
        <p:blipFill rotWithShape="1">
          <a:blip r:embed="rId4">
            <a:alphaModFix/>
          </a:blip>
          <a:srcRect b="0" l="0" r="0" t="0"/>
          <a:stretch/>
        </p:blipFill>
        <p:spPr>
          <a:xfrm>
            <a:off x="179512" y="2436411"/>
            <a:ext cx="3674388" cy="36743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800"/>
              <a:buFont typeface="Calibri"/>
              <a:buNone/>
            </a:pPr>
            <a:r>
              <a:rPr lang="en-GB" sz="2800"/>
              <a:t>“Why did you bring these daggers from the place?</a:t>
            </a:r>
            <a:br>
              <a:rPr lang="en-GB" sz="2800"/>
            </a:br>
            <a:r>
              <a:rPr lang="en-GB" sz="2800"/>
              <a:t>They must lie there. Go carry them and smear</a:t>
            </a:r>
            <a:br>
              <a:rPr lang="en-GB" sz="2800"/>
            </a:br>
            <a:r>
              <a:rPr lang="en-GB" sz="2800"/>
              <a:t>The sleepy grooms with blood.”</a:t>
            </a:r>
            <a:endParaRPr sz="2800"/>
          </a:p>
        </p:txBody>
      </p:sp>
      <p:pic>
        <p:nvPicPr>
          <p:cNvPr descr="Image result for macbeth wash his hands" id="129" name="Google Shape;129;p19"/>
          <p:cNvPicPr preferRelativeResize="0"/>
          <p:nvPr/>
        </p:nvPicPr>
        <p:blipFill rotWithShape="1">
          <a:blip r:embed="rId3">
            <a:alphaModFix/>
          </a:blip>
          <a:srcRect b="0" l="0" r="0" t="0"/>
          <a:stretch/>
        </p:blipFill>
        <p:spPr>
          <a:xfrm>
            <a:off x="467544" y="1852241"/>
            <a:ext cx="3528392" cy="4625056"/>
          </a:xfrm>
          <a:prstGeom prst="rect">
            <a:avLst/>
          </a:prstGeom>
          <a:noFill/>
          <a:ln>
            <a:noFill/>
          </a:ln>
        </p:spPr>
      </p:pic>
      <p:pic>
        <p:nvPicPr>
          <p:cNvPr descr="Image result for mother telling off child" id="130" name="Google Shape;130;p19"/>
          <p:cNvPicPr preferRelativeResize="0"/>
          <p:nvPr/>
        </p:nvPicPr>
        <p:blipFill rotWithShape="1">
          <a:blip r:embed="rId4">
            <a:alphaModFix/>
          </a:blip>
          <a:srcRect b="0" l="0" r="0" t="0"/>
          <a:stretch/>
        </p:blipFill>
        <p:spPr>
          <a:xfrm>
            <a:off x="4355976" y="2420888"/>
            <a:ext cx="4457700" cy="3048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139700" lvl="0" marL="342900" rtl="0" algn="l">
              <a:spcBef>
                <a:spcPts val="0"/>
              </a:spcBef>
              <a:spcAft>
                <a:spcPts val="0"/>
              </a:spcAft>
              <a:buClr>
                <a:schemeClr val="dk1"/>
              </a:buClr>
              <a:buSzPts val="3200"/>
              <a:buNone/>
            </a:pPr>
            <a:r>
              <a:t/>
            </a:r>
            <a:endParaRPr/>
          </a:p>
        </p:txBody>
      </p:sp>
      <p:sp>
        <p:nvSpPr>
          <p:cNvPr id="136" name="Google Shape;13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t/>
            </a:r>
            <a:endParaRPr/>
          </a:p>
        </p:txBody>
      </p:sp>
      <p:pic>
        <p:nvPicPr>
          <p:cNvPr descr="Image result for it is the eye of childhood that fears a painted devil" id="137" name="Google Shape;137;p20"/>
          <p:cNvPicPr preferRelativeResize="0"/>
          <p:nvPr/>
        </p:nvPicPr>
        <p:blipFill rotWithShape="1">
          <a:blip r:embed="rId3">
            <a:alphaModFix/>
          </a:blip>
          <a:srcRect b="0" l="0" r="0" t="0"/>
          <a:stretch/>
        </p:blipFill>
        <p:spPr>
          <a:xfrm>
            <a:off x="155575" y="188640"/>
            <a:ext cx="8096250" cy="3810000"/>
          </a:xfrm>
          <a:prstGeom prst="rect">
            <a:avLst/>
          </a:prstGeom>
          <a:noFill/>
          <a:ln>
            <a:noFill/>
          </a:ln>
        </p:spPr>
      </p:pic>
      <p:pic>
        <p:nvPicPr>
          <p:cNvPr descr="Image result for devil makeup" id="138" name="Google Shape;138;p20"/>
          <p:cNvPicPr preferRelativeResize="0"/>
          <p:nvPr/>
        </p:nvPicPr>
        <p:blipFill rotWithShape="1">
          <a:blip r:embed="rId4">
            <a:alphaModFix/>
          </a:blip>
          <a:srcRect b="0" l="16851" r="0" t="0"/>
          <a:stretch/>
        </p:blipFill>
        <p:spPr>
          <a:xfrm>
            <a:off x="5796136" y="2852936"/>
            <a:ext cx="3167991" cy="3810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1"/>
          <p:cNvPicPr preferRelativeResize="0"/>
          <p:nvPr/>
        </p:nvPicPr>
        <p:blipFill rotWithShape="1">
          <a:blip r:embed="rId3">
            <a:alphaModFix/>
          </a:blip>
          <a:srcRect b="34970" l="4047" r="68572" t="38542"/>
          <a:stretch/>
        </p:blipFill>
        <p:spPr>
          <a:xfrm>
            <a:off x="251520" y="476672"/>
            <a:ext cx="5303509" cy="4104456"/>
          </a:xfrm>
          <a:prstGeom prst="rect">
            <a:avLst/>
          </a:prstGeom>
          <a:noFill/>
          <a:ln>
            <a:noFill/>
          </a:ln>
        </p:spPr>
      </p:pic>
      <p:pic>
        <p:nvPicPr>
          <p:cNvPr descr="Image result for old lady telling ghost story by fireside" id="144" name="Google Shape;144;p21"/>
          <p:cNvPicPr preferRelativeResize="0"/>
          <p:nvPr/>
        </p:nvPicPr>
        <p:blipFill rotWithShape="1">
          <a:blip r:embed="rId4">
            <a:alphaModFix/>
          </a:blip>
          <a:srcRect b="0" l="0" r="0" t="0"/>
          <a:stretch/>
        </p:blipFill>
        <p:spPr>
          <a:xfrm>
            <a:off x="5292080" y="4090861"/>
            <a:ext cx="3719048" cy="2558494"/>
          </a:xfrm>
          <a:prstGeom prst="rect">
            <a:avLst/>
          </a:prstGeom>
          <a:noFill/>
          <a:ln>
            <a:noFill/>
          </a:ln>
        </p:spPr>
      </p:pic>
      <p:pic>
        <p:nvPicPr>
          <p:cNvPr descr="Image result for old lady telling ghost story by fireside" id="145" name="Google Shape;145;p21"/>
          <p:cNvPicPr preferRelativeResize="0"/>
          <p:nvPr/>
        </p:nvPicPr>
        <p:blipFill rotWithShape="1">
          <a:blip r:embed="rId5">
            <a:alphaModFix/>
          </a:blip>
          <a:srcRect b="0" l="0" r="0" t="0"/>
          <a:stretch/>
        </p:blipFill>
        <p:spPr>
          <a:xfrm>
            <a:off x="5270381" y="323880"/>
            <a:ext cx="3718773" cy="2457048"/>
          </a:xfrm>
          <a:prstGeom prst="rect">
            <a:avLst/>
          </a:prstGeom>
          <a:noFill/>
          <a:ln>
            <a:noFill/>
          </a:ln>
        </p:spPr>
      </p:pic>
      <p:sp>
        <p:nvSpPr>
          <p:cNvPr id="146" name="Google Shape;146;p21"/>
          <p:cNvSpPr/>
          <p:nvPr/>
        </p:nvSpPr>
        <p:spPr>
          <a:xfrm>
            <a:off x="395536" y="4941168"/>
            <a:ext cx="4572000" cy="1569660"/>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chemeClr val="dk1"/>
                </a:solidFill>
                <a:latin typeface="Calibri"/>
                <a:ea typeface="Calibri"/>
                <a:cs typeface="Calibri"/>
                <a:sym typeface="Calibri"/>
              </a:rPr>
              <a:t>This reminds me of a mother scolding her child after hearing too many tales of some monster under the bed.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GB" sz="3200"/>
              <a:t>Be innocent of the knowledge, dearest chuck,</a:t>
            </a:r>
            <a:br>
              <a:rPr lang="en-GB" sz="3200"/>
            </a:br>
            <a:r>
              <a:rPr lang="en-GB" sz="3200"/>
              <a:t>Till thou applaud the deed. </a:t>
            </a:r>
            <a:endParaRPr/>
          </a:p>
        </p:txBody>
      </p:sp>
      <p:pic>
        <p:nvPicPr>
          <p:cNvPr descr="Image result for potty training proud parent" id="152" name="Google Shape;152;p22"/>
          <p:cNvPicPr preferRelativeResize="0"/>
          <p:nvPr/>
        </p:nvPicPr>
        <p:blipFill rotWithShape="1">
          <a:blip r:embed="rId3">
            <a:alphaModFix/>
          </a:blip>
          <a:srcRect b="0" l="0" r="0" t="0"/>
          <a:stretch/>
        </p:blipFill>
        <p:spPr>
          <a:xfrm>
            <a:off x="1547664" y="1647419"/>
            <a:ext cx="6235452" cy="46944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457200" y="274638"/>
            <a:ext cx="8229600" cy="581865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GB"/>
              <a:t>Given this reading of the play, let’s reconsider the line – from A1 S7 – that finally tips the scales and pushes Macbeth into killing the king…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idx="1" type="body"/>
          </p:nvPr>
        </p:nvSpPr>
        <p:spPr>
          <a:xfrm>
            <a:off x="251520" y="260648"/>
            <a:ext cx="6995120" cy="2620888"/>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2720"/>
              <a:buNone/>
            </a:pPr>
            <a:r>
              <a:rPr i="1" lang="en-GB" sz="2720"/>
              <a:t>I have given suck, and know</a:t>
            </a:r>
            <a:endParaRPr/>
          </a:p>
          <a:p>
            <a:pPr indent="0" lvl="0" marL="0" rtl="0" algn="l">
              <a:lnSpc>
                <a:spcPct val="80000"/>
              </a:lnSpc>
              <a:spcBef>
                <a:spcPts val="544"/>
              </a:spcBef>
              <a:spcAft>
                <a:spcPts val="0"/>
              </a:spcAft>
              <a:buClr>
                <a:schemeClr val="dk1"/>
              </a:buClr>
              <a:buSzPts val="2720"/>
              <a:buNone/>
            </a:pPr>
            <a:r>
              <a:rPr i="1" lang="en-GB" sz="2720"/>
              <a:t>How tender ’tis to love the babe that milks me.</a:t>
            </a:r>
            <a:endParaRPr/>
          </a:p>
          <a:p>
            <a:pPr indent="0" lvl="0" marL="0" rtl="0" algn="l">
              <a:lnSpc>
                <a:spcPct val="80000"/>
              </a:lnSpc>
              <a:spcBef>
                <a:spcPts val="544"/>
              </a:spcBef>
              <a:spcAft>
                <a:spcPts val="0"/>
              </a:spcAft>
              <a:buClr>
                <a:schemeClr val="dk1"/>
              </a:buClr>
              <a:buSzPts val="2720"/>
              <a:buNone/>
            </a:pPr>
            <a:r>
              <a:rPr i="1" lang="en-GB" sz="2720"/>
              <a:t>I would, while it was smiling in my face,</a:t>
            </a:r>
            <a:endParaRPr/>
          </a:p>
          <a:p>
            <a:pPr indent="0" lvl="0" marL="0" rtl="0" algn="l">
              <a:lnSpc>
                <a:spcPct val="80000"/>
              </a:lnSpc>
              <a:spcBef>
                <a:spcPts val="544"/>
              </a:spcBef>
              <a:spcAft>
                <a:spcPts val="0"/>
              </a:spcAft>
              <a:buClr>
                <a:schemeClr val="dk1"/>
              </a:buClr>
              <a:buSzPts val="2720"/>
              <a:buNone/>
            </a:pPr>
            <a:r>
              <a:rPr i="1" lang="en-GB" sz="2720"/>
              <a:t>Have plucked my nipple from his boneless gums</a:t>
            </a:r>
            <a:endParaRPr/>
          </a:p>
          <a:p>
            <a:pPr indent="0" lvl="0" marL="0" rtl="0" algn="l">
              <a:lnSpc>
                <a:spcPct val="80000"/>
              </a:lnSpc>
              <a:spcBef>
                <a:spcPts val="544"/>
              </a:spcBef>
              <a:spcAft>
                <a:spcPts val="0"/>
              </a:spcAft>
              <a:buClr>
                <a:schemeClr val="dk1"/>
              </a:buClr>
              <a:buSzPts val="2720"/>
              <a:buNone/>
            </a:pPr>
            <a:r>
              <a:rPr i="1" lang="en-GB" sz="2720"/>
              <a:t>And dashed the brains out, had I so sworn as you</a:t>
            </a:r>
            <a:endParaRPr/>
          </a:p>
          <a:p>
            <a:pPr indent="0" lvl="0" marL="0" rtl="0" algn="l">
              <a:lnSpc>
                <a:spcPct val="80000"/>
              </a:lnSpc>
              <a:spcBef>
                <a:spcPts val="544"/>
              </a:spcBef>
              <a:spcAft>
                <a:spcPts val="0"/>
              </a:spcAft>
              <a:buClr>
                <a:schemeClr val="dk1"/>
              </a:buClr>
              <a:buSzPts val="2720"/>
              <a:buNone/>
            </a:pPr>
            <a:r>
              <a:rPr i="1" lang="en-GB" sz="2720"/>
              <a:t>Have done to this.</a:t>
            </a:r>
            <a:endParaRPr i="1" sz="2720"/>
          </a:p>
        </p:txBody>
      </p:sp>
      <p:sp>
        <p:nvSpPr>
          <p:cNvPr id="163" name="Google Shape;163;p24"/>
          <p:cNvSpPr/>
          <p:nvPr/>
        </p:nvSpPr>
        <p:spPr>
          <a:xfrm>
            <a:off x="2123728" y="4509120"/>
            <a:ext cx="6768752" cy="2016224"/>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3600" u="none" cap="none" strike="noStrike">
                <a:solidFill>
                  <a:schemeClr val="dk1"/>
                </a:solidFill>
                <a:latin typeface="Calibri"/>
                <a:ea typeface="Calibri"/>
                <a:cs typeface="Calibri"/>
                <a:sym typeface="Calibri"/>
              </a:rPr>
              <a:t>Who is the real babe?</a:t>
            </a:r>
            <a:endParaRPr/>
          </a:p>
          <a:p>
            <a:pPr indent="0" lvl="0" marL="0" marR="0" rtl="0" algn="ctr">
              <a:spcBef>
                <a:spcPts val="0"/>
              </a:spcBef>
              <a:spcAft>
                <a:spcPts val="0"/>
              </a:spcAft>
              <a:buNone/>
            </a:pPr>
            <a:r>
              <a:rPr b="0" i="0" lang="en-GB" sz="3600" u="none" cap="none" strike="noStrike">
                <a:solidFill>
                  <a:schemeClr val="dk1"/>
                </a:solidFill>
                <a:latin typeface="Calibri"/>
                <a:ea typeface="Calibri"/>
                <a:cs typeface="Calibri"/>
                <a:sym typeface="Calibri"/>
              </a:rPr>
              <a:t>Who is she really threatening here?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idx="1" type="body"/>
          </p:nvPr>
        </p:nvSpPr>
        <p:spPr>
          <a:xfrm>
            <a:off x="107504" y="188640"/>
            <a:ext cx="8928992" cy="6480720"/>
          </a:xfrm>
          <a:prstGeom prst="rect">
            <a:avLst/>
          </a:prstGeom>
          <a:noFill/>
          <a:ln>
            <a:noFill/>
          </a:ln>
        </p:spPr>
        <p:txBody>
          <a:bodyPr anchorCtr="0" anchor="t" bIns="45700" lIns="91425" spcFirstLastPara="1" rIns="91425" wrap="square" tIns="45700">
            <a:noAutofit/>
          </a:bodyPr>
          <a:lstStyle/>
          <a:p>
            <a:pPr indent="536575" lvl="0" marL="0" rtl="0" algn="l">
              <a:lnSpc>
                <a:spcPct val="80000"/>
              </a:lnSpc>
              <a:spcBef>
                <a:spcPts val="0"/>
              </a:spcBef>
              <a:spcAft>
                <a:spcPts val="0"/>
              </a:spcAft>
              <a:buClr>
                <a:schemeClr val="dk1"/>
              </a:buClr>
              <a:buSzPts val="2240"/>
              <a:buNone/>
            </a:pPr>
            <a:r>
              <a:rPr lang="en-GB" sz="2240"/>
              <a:t>While we’re looking at Macbeth as a henpecked husband though, it’s worth looking at the last thing she says before he changes his mind: the whole baby killing business. Obviously, this has led to all the discussion over whether or not they had children before, though I see something different:</a:t>
            </a:r>
            <a:endParaRPr/>
          </a:p>
          <a:p>
            <a:pPr indent="536575" lvl="0" marL="0" rtl="0" algn="l">
              <a:lnSpc>
                <a:spcPct val="80000"/>
              </a:lnSpc>
              <a:spcBef>
                <a:spcPts val="448"/>
              </a:spcBef>
              <a:spcAft>
                <a:spcPts val="0"/>
              </a:spcAft>
              <a:buClr>
                <a:schemeClr val="dk1"/>
              </a:buClr>
              <a:buSzPts val="2240"/>
              <a:buNone/>
            </a:pPr>
            <a:r>
              <a:rPr lang="en-GB" sz="2240"/>
              <a:t>In A1 S5 Lady Macbeth says that she wanted to “chastise” Macbeth – the actions of a parent; after killing the king, she tries to get him to wash his hands; she tells him off for bringing the daggers with him; she tells him that it’s “the eye of childhood that fears the painted devil.” After he sees the ghost she compares it to the “air drawn dagger” he saw, in a way that reminds me of a mother scolding her child after hearing too many tales of some monster under the bed. And in my favourite moment, Macbeth tells her, after he’s planned to kill Banquo, that she should know nothing of it until she “applaud the deed.” I imagine some strange toddler version Macbeth sitting on the potty while his beaming mother claps and smiles at his ability to do just what she’s taught him; becauase, after all, here – when he kills Banquo – he is really only doing exactly what she taught him. He is hers now; owned, signed, sealed, delivered.</a:t>
            </a:r>
            <a:endParaRPr/>
          </a:p>
          <a:p>
            <a:pPr indent="536575" lvl="0" marL="0" rtl="0" algn="l">
              <a:lnSpc>
                <a:spcPct val="80000"/>
              </a:lnSpc>
              <a:spcBef>
                <a:spcPts val="448"/>
              </a:spcBef>
              <a:spcAft>
                <a:spcPts val="0"/>
              </a:spcAft>
              <a:buClr>
                <a:schemeClr val="dk1"/>
              </a:buClr>
              <a:buSzPts val="2240"/>
              <a:buNone/>
            </a:pPr>
            <a:r>
              <a:rPr lang="en-GB" sz="2240"/>
              <a:t>Based on the above interpretation of their relationship being oedipal, it’s reasonable to suggest that the reason Macbeth was so disturbed by the image of his wife smashing their child’s head against a wall had nothing to do with any theoretic child, but everything to do with the idea that Macbeth </a:t>
            </a:r>
            <a:r>
              <a:rPr i="1" lang="en-GB" sz="2240"/>
              <a:t>was</a:t>
            </a:r>
            <a:r>
              <a:rPr lang="en-GB" sz="2240"/>
              <a:t> the child. Lady Macbeth killing their child was a veiled threat of violence against Macbeth himself.</a:t>
            </a:r>
            <a:endParaRPr/>
          </a:p>
          <a:p>
            <a:pPr indent="536575" lvl="0" marL="0" rtl="0" algn="l">
              <a:lnSpc>
                <a:spcPct val="80000"/>
              </a:lnSpc>
              <a:spcBef>
                <a:spcPts val="448"/>
              </a:spcBef>
              <a:spcAft>
                <a:spcPts val="0"/>
              </a:spcAft>
              <a:buClr>
                <a:schemeClr val="dk1"/>
              </a:buClr>
              <a:buSzPts val="2240"/>
              <a:buNone/>
            </a:pPr>
            <a:r>
              <a:t/>
            </a:r>
            <a:endParaRPr sz="224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